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75239"/>
                </a:solidFill>
                <a:latin typeface="Aptos"/>
              </a:defRPr>
            </a:pPr>
            <a:r>
              <a:t>PERSONAL MEMORY  /  SCORE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232C30"/>
                </a:solidFill>
                <a:latin typeface="Georgia"/>
              </a:defRPr>
            </a:pPr>
            <a:r>
              <a:t>Memory score decay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10972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868"/>
                </a:solidFill>
                <a:latin typeface="Aptos"/>
              </a:defRPr>
            </a:pPr>
            <a:r>
              <a:t>An ongoing memory loses composite value through weaker feedback, lower relevance, and elapsed 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11274551" cy="32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932688"/>
                <a:gridCol w="1188720"/>
                <a:gridCol w="950976"/>
                <a:gridCol w="969264"/>
                <a:gridCol w="914400"/>
                <a:gridCol w="841248"/>
                <a:gridCol w="1069848"/>
                <a:gridCol w="1033271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Kind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Stability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Half-life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Composite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Relevance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Recency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Importance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Frequency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Utility</a:t>
                      </a:r>
                    </a:p>
                  </a:txBody>
                  <a:tcPr marL="73152" marR="73152" anchor="ctr">
                    <a:solidFill>
                      <a:srgbClr val="232C30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Strong + recent (1h)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0.9317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0.9500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0.9990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0.9000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1.0000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0.7143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After bad feedback (1d)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0.7560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0.8200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0.9772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0.6200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0.8566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0.2500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Stale + weak (7d)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0.5301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0.6200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0.8507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0.2800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0.5405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0.0909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More staleness (11d)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0.5129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0.6200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0.7726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0.2800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0.5405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0.0909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Further stale (15d)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0.4973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0.6200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0.7017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0.2800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0.5405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0.0909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 elapsed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episodic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ongoing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75239"/>
                          </a:solidFill>
                          <a:latin typeface="Aptos"/>
                        </a:defRPr>
                      </a:pPr>
                      <a:r>
                        <a:t>0.4529</a:t>
                      </a:r>
                    </a:p>
                  </a:txBody>
                  <a:tcPr marL="73152" marR="73152" marT="22860" marB="22860" anchor="ctr">
                    <a:solidFill>
                      <a:srgbClr val="FAE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0.6200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0.5000</a:t>
                      </a:r>
                    </a:p>
                  </a:txBody>
                  <a:tcPr marL="73152" marR="73152" marT="22860" marB="22860" anchor="ctr"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0.2800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0.5405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C30"/>
                          </a:solidFill>
                          <a:latin typeface="Aptos"/>
                        </a:defRPr>
                      </a:pPr>
                      <a:r>
                        <a:t>0.0909</a:t>
                      </a:r>
                    </a:p>
                  </a:txBody>
                  <a:tcPr marL="73152" marR="73152" marT="22860" marB="22860" anchor="ctr">
                    <a:solidFill>
                      <a:srgbClr val="F3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75488" y="5138928"/>
            <a:ext cx="64008" cy="868680"/>
          </a:xfrm>
          <a:prstGeom prst="rect">
            <a:avLst/>
          </a:prstGeom>
          <a:solidFill>
            <a:srgbClr val="C7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084064"/>
            <a:ext cx="6812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C30"/>
                </a:solidFill>
                <a:latin typeface="Georgia"/>
              </a:defRPr>
            </a:pPr>
            <a:r>
              <a:t>At 30 days, recency reaches 0.50 for an ongoing memory.</a:t>
            </a:r>
          </a:p>
          <a:p>
            <a:pPr>
              <a:defRPr sz="1050">
                <a:solidFill>
                  <a:srgbClr val="5E6868"/>
                </a:solidFill>
                <a:latin typeface="Aptos"/>
              </a:defRPr>
            </a:pPr>
            <a:r>
              <a:t>Composite score falls from 0.9317 to 0.4529; feedback and relevance also change the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5193792"/>
            <a:ext cx="3703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75239"/>
                </a:solidFill>
                <a:latin typeface="Aptos"/>
              </a:defRPr>
            </a:pPr>
            <a:r>
              <a:t>RECENCY HALF-LIVES</a:t>
            </a:r>
          </a:p>
          <a:p>
            <a:pPr>
              <a:defRPr sz="1200" b="1">
                <a:solidFill>
                  <a:srgbClr val="232C30"/>
                </a:solidFill>
                <a:latin typeface="Aptos"/>
              </a:defRPr>
            </a:pPr>
            <a:r>
              <a:t>Stable 365d    Ongoing 30d    Transient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68"/>
                </a:solidFill>
                <a:latin typeface="Aptos"/>
              </a:defRPr>
            </a:pPr>
            <a:r>
              <a:t>Source: tests/test_memory_decay.py  •  Printed score components are normalized 0–1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